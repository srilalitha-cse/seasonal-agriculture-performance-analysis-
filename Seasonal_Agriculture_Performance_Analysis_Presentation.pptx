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69" d="100"/>
          <a:sy n="69" d="100"/>
        </p:scale>
        <p:origin x="696" y="5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Lalitha-CSE/Seasonal-Agriculture-Performance-Analysis-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99018" y="3326667"/>
            <a:ext cx="5155376" cy="861497"/>
          </a:xfrm>
        </p:spPr>
        <p:txBody>
          <a:bodyPr vert="horz" lIns="91440" tIns="45720" rIns="91440" bIns="45720" rtlCol="0" anchor="b">
            <a:normAutofit fontScale="85000" lnSpcReduction="10000"/>
          </a:bodyPr>
          <a:lstStyle/>
          <a:p>
            <a:pPr algn="just"/>
            <a:r>
              <a:rPr lang="en-US" b="0" dirty="0">
                <a:solidFill>
                  <a:schemeClr val="tx1"/>
                </a:solidFill>
              </a:rPr>
              <a:t>Student Name: PURRU.SRILALITHA SAI PRASANNA </a:t>
            </a:r>
            <a:endParaRPr lang="en-IN" b="0" dirty="0">
              <a:solidFill>
                <a:schemeClr val="tx1"/>
              </a:solidFill>
            </a:endParaRPr>
          </a:p>
          <a:p>
            <a:pPr algn="just"/>
            <a:r>
              <a:rPr lang="en-US" b="0" dirty="0">
                <a:solidFill>
                  <a:schemeClr val="tx1"/>
                </a:solidFill>
              </a:rPr>
              <a:t>College Name: SHIV NADAR UNIVERSITY CHENNAI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201" y="1544001"/>
            <a:ext cx="5850000" cy="1250000"/>
          </a:xfrm>
        </p:spPr>
        <p:txBody>
          <a:bodyPr anchor="b">
            <a:normAutofit/>
          </a:bodyPr>
          <a:lstStyle/>
          <a:p>
            <a:pPr algn="just"/>
            <a:r>
              <a:rPr lang="en-GB" sz="2800" dirty="0"/>
              <a:t>Seasonal Agriculture Performance Analysis</a:t>
            </a:r>
            <a:endParaRPr lang="en-IN" sz="28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999018" y="4720832"/>
            <a:ext cx="5155376" cy="369332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just"/>
            <a:r>
              <a:rPr lang="en-US" b="1" dirty="0"/>
              <a:t>AICTE STU ID : </a:t>
            </a:r>
            <a:r>
              <a:rPr lang="en-US" dirty="0"/>
              <a:t>STU6a2e87861217a1781434246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5450000" cy="360798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IN" sz="1800" dirty="0"/>
              <a:t>Agricultural performance is shaped by seasonal variation in rainfall, temperature, soil conditions and resource availability.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IN" sz="1800" dirty="0"/>
              <a:t>Raw farm-level data does not clearly reveal how yield, cost and profit differ between the Kharif, Rabi and Zaid seasons.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IN" sz="1800" dirty="0"/>
              <a:t>Problem: analyze seasonal agriculture data to uncover meaningful patterns, trends and relationships in performance across seasons.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IN" sz="1800" dirty="0"/>
              <a:t>Goal: support evidence-based, season-specific agricultural planning and decision-making.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50" name="Description Body"/>
          <p:cNvSpPr txBox="1"/>
          <p:nvPr/>
        </p:nvSpPr>
        <p:spPr>
          <a:xfrm>
            <a:off x="754602" y="1850000"/>
            <a:ext cx="5850000" cy="4200000"/>
          </a:xfrm>
          <a:prstGeom prst="rect">
            <a:avLst/>
          </a:prstGeom>
          <a:noFill/>
        </p:spPr>
        <p:txBody>
          <a:bodyPr wrap="square" anchor="t">
            <a:normAutofit fontScale="85000" lnSpcReduction="10000"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IN" sz="1800" dirty="0"/>
              <a:t>Dataset: 4,000 farm-level records spanning 8 Indian states, 8 crops and 3 cropping seasons — Kharif, Rabi and Zaid.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IN" sz="1800" dirty="0"/>
              <a:t>Captures environmental conditions (rainfall, temperature, humidity, soil), resource usage (water, fertilizer, pesticide), and economic outcomes (cost, revenue, profit).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IN" sz="1800" dirty="0"/>
              <a:t>Objective: clean and explore the data, identify seasonal patterns and relationships, and derive evidence-based recommendations for seasonal agricultural planning.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n-IN" sz="1800" dirty="0"/>
              <a:t>Approach: exploratory data analysis, statistical testing (ANOVA) and visualization using Python, documented end-to-end in a Jupyter Notebook.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60" name="Bullet 0"/>
          <p:cNvSpPr/>
          <p:nvPr/>
        </p:nvSpPr>
        <p:spPr>
          <a:xfrm>
            <a:off x="754602" y="1950000"/>
            <a:ext cx="120000" cy="120000"/>
          </a:xfrm>
          <a:prstGeom prst="ellipse">
            <a:avLst/>
          </a:prstGeom>
          <a:solidFill>
            <a:srgbClr val="5FCB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EndUser 0"/>
          <p:cNvSpPr txBox="1"/>
          <p:nvPr/>
        </p:nvSpPr>
        <p:spPr>
          <a:xfrm>
            <a:off x="1004602" y="1870000"/>
            <a:ext cx="8300000" cy="8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1800" b="1" dirty="0">
                <a:solidFill>
                  <a:srgbClr val="5FCBEF"/>
                </a:solidFill>
              </a:rPr>
              <a:t>Farmers &amp; Agronomists</a:t>
            </a:r>
          </a:p>
          <a:p>
            <a:r>
              <a:rPr lang="en-IN" sz="1500" dirty="0"/>
              <a:t>Plan crop selection, irrigation and inputs season-by-season using evidence rather than guesswork.</a:t>
            </a:r>
          </a:p>
        </p:txBody>
      </p:sp>
      <p:sp>
        <p:nvSpPr>
          <p:cNvPr id="62" name="Bullet 1"/>
          <p:cNvSpPr/>
          <p:nvPr/>
        </p:nvSpPr>
        <p:spPr>
          <a:xfrm>
            <a:off x="754602" y="2900000"/>
            <a:ext cx="120000" cy="120000"/>
          </a:xfrm>
          <a:prstGeom prst="ellipse">
            <a:avLst/>
          </a:prstGeom>
          <a:solidFill>
            <a:srgbClr val="2E83C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EndUser 1"/>
          <p:cNvSpPr txBox="1"/>
          <p:nvPr/>
        </p:nvSpPr>
        <p:spPr>
          <a:xfrm>
            <a:off x="1004602" y="2820000"/>
            <a:ext cx="8300000" cy="8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1800" b="1" dirty="0">
                <a:solidFill>
                  <a:srgbClr val="2E83C3"/>
                </a:solidFill>
              </a:rPr>
              <a:t>Agricultural Policy Makers</a:t>
            </a:r>
          </a:p>
          <a:p>
            <a:r>
              <a:rPr lang="en-IN" sz="1500" dirty="0"/>
              <a:t>Design seasonal advisories, subsidies and irrigation programs backed by real performance data.</a:t>
            </a:r>
          </a:p>
        </p:txBody>
      </p:sp>
      <p:sp>
        <p:nvSpPr>
          <p:cNvPr id="64" name="Bullet 2"/>
          <p:cNvSpPr/>
          <p:nvPr/>
        </p:nvSpPr>
        <p:spPr>
          <a:xfrm>
            <a:off x="754602" y="3850000"/>
            <a:ext cx="120000" cy="120000"/>
          </a:xfrm>
          <a:prstGeom prst="ellipse">
            <a:avLst/>
          </a:prstGeom>
          <a:solidFill>
            <a:srgbClr val="42D0A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EndUser 2"/>
          <p:cNvSpPr txBox="1"/>
          <p:nvPr/>
        </p:nvSpPr>
        <p:spPr>
          <a:xfrm>
            <a:off x="1004602" y="3770000"/>
            <a:ext cx="8300000" cy="8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1800" b="1" dirty="0">
                <a:solidFill>
                  <a:srgbClr val="42D0A2"/>
                </a:solidFill>
              </a:rPr>
              <a:t>Agribusiness &amp; Supply Chains</a:t>
            </a:r>
          </a:p>
          <a:p>
            <a:r>
              <a:rPr lang="en-IN" sz="1500" dirty="0"/>
              <a:t>Anticipate seasonal shifts in production volumes and pricing to plan procurement and logistics.</a:t>
            </a:r>
          </a:p>
        </p:txBody>
      </p:sp>
      <p:sp>
        <p:nvSpPr>
          <p:cNvPr id="66" name="Bullet 3"/>
          <p:cNvSpPr/>
          <p:nvPr/>
        </p:nvSpPr>
        <p:spPr>
          <a:xfrm>
            <a:off x="754602" y="4800000"/>
            <a:ext cx="120000" cy="120000"/>
          </a:xfrm>
          <a:prstGeom prst="ellipse">
            <a:avLst/>
          </a:prstGeom>
          <a:solidFill>
            <a:srgbClr val="2E94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EndUser 3"/>
          <p:cNvSpPr txBox="1"/>
          <p:nvPr/>
        </p:nvSpPr>
        <p:spPr>
          <a:xfrm>
            <a:off x="1004602" y="4720000"/>
            <a:ext cx="8300000" cy="85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1800" b="1" dirty="0">
                <a:solidFill>
                  <a:srgbClr val="2E946B"/>
                </a:solidFill>
              </a:rPr>
              <a:t>Researchers &amp; Students</a:t>
            </a:r>
          </a:p>
          <a:p>
            <a:r>
              <a:rPr lang="en-IN" sz="1500" dirty="0"/>
              <a:t>Use the findings as a reference case study on data-driven seasonal agricultural analysis.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80" name="TechDot 0"/>
          <p:cNvSpPr/>
          <p:nvPr/>
        </p:nvSpPr>
        <p:spPr>
          <a:xfrm>
            <a:off x="1950000" y="1500000"/>
            <a:ext cx="120000" cy="120000"/>
          </a:xfrm>
          <a:prstGeom prst="ellipse">
            <a:avLst/>
          </a:prstGeom>
          <a:solidFill>
            <a:srgbClr val="5FCB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Tech 0"/>
          <p:cNvSpPr txBox="1"/>
          <p:nvPr/>
        </p:nvSpPr>
        <p:spPr>
          <a:xfrm>
            <a:off x="2200000" y="1420000"/>
            <a:ext cx="8500000" cy="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1700" b="1" dirty="0">
                <a:solidFill>
                  <a:srgbClr val="5FCBEF"/>
                </a:solidFill>
              </a:rPr>
              <a:t>Python</a:t>
            </a:r>
            <a:r>
              <a:rPr lang="en-IN" sz="1500" dirty="0"/>
              <a:t> — Core programming language for the entire analysis</a:t>
            </a:r>
          </a:p>
        </p:txBody>
      </p:sp>
      <p:sp>
        <p:nvSpPr>
          <p:cNvPr id="82" name="TechDot 1"/>
          <p:cNvSpPr/>
          <p:nvPr/>
        </p:nvSpPr>
        <p:spPr>
          <a:xfrm>
            <a:off x="1950000" y="2400000"/>
            <a:ext cx="120000" cy="120000"/>
          </a:xfrm>
          <a:prstGeom prst="ellipse">
            <a:avLst/>
          </a:prstGeom>
          <a:solidFill>
            <a:srgbClr val="2E83C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Tech 1"/>
          <p:cNvSpPr txBox="1"/>
          <p:nvPr/>
        </p:nvSpPr>
        <p:spPr>
          <a:xfrm>
            <a:off x="2200000" y="2320000"/>
            <a:ext cx="8500000" cy="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1700" b="1" dirty="0">
                <a:solidFill>
                  <a:srgbClr val="2E83C3"/>
                </a:solidFill>
              </a:rPr>
              <a:t>Pandas &amp; NumPy</a:t>
            </a:r>
            <a:r>
              <a:rPr lang="en-IN" sz="1500" dirty="0"/>
              <a:t> — Data cleaning, transformation and numerical computation</a:t>
            </a:r>
          </a:p>
        </p:txBody>
      </p:sp>
      <p:sp>
        <p:nvSpPr>
          <p:cNvPr id="84" name="TechDot 2"/>
          <p:cNvSpPr/>
          <p:nvPr/>
        </p:nvSpPr>
        <p:spPr>
          <a:xfrm>
            <a:off x="1950000" y="3300000"/>
            <a:ext cx="120000" cy="120000"/>
          </a:xfrm>
          <a:prstGeom prst="ellipse">
            <a:avLst/>
          </a:prstGeom>
          <a:solidFill>
            <a:srgbClr val="42D0A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Tech 2"/>
          <p:cNvSpPr txBox="1"/>
          <p:nvPr/>
        </p:nvSpPr>
        <p:spPr>
          <a:xfrm>
            <a:off x="2200000" y="3220000"/>
            <a:ext cx="8500000" cy="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1700" b="1" dirty="0">
                <a:solidFill>
                  <a:srgbClr val="42D0A2"/>
                </a:solidFill>
              </a:rPr>
              <a:t>Matplotlib &amp; Seaborn</a:t>
            </a:r>
            <a:r>
              <a:rPr lang="en-IN" sz="1500" dirty="0"/>
              <a:t> — Statistical charts, boxplots, heatmaps and trend visualizations</a:t>
            </a:r>
          </a:p>
        </p:txBody>
      </p:sp>
      <p:sp>
        <p:nvSpPr>
          <p:cNvPr id="86" name="TechDot 3"/>
          <p:cNvSpPr/>
          <p:nvPr/>
        </p:nvSpPr>
        <p:spPr>
          <a:xfrm>
            <a:off x="1950000" y="4200000"/>
            <a:ext cx="120000" cy="120000"/>
          </a:xfrm>
          <a:prstGeom prst="ellipse">
            <a:avLst/>
          </a:prstGeom>
          <a:solidFill>
            <a:srgbClr val="2E94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Tech 3"/>
          <p:cNvSpPr txBox="1"/>
          <p:nvPr/>
        </p:nvSpPr>
        <p:spPr>
          <a:xfrm>
            <a:off x="2200000" y="4120000"/>
            <a:ext cx="8500000" cy="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1700" b="1" dirty="0">
                <a:solidFill>
                  <a:srgbClr val="2E946B"/>
                </a:solidFill>
              </a:rPr>
              <a:t>SciPy</a:t>
            </a:r>
            <a:r>
              <a:rPr lang="en-IN" sz="1500" dirty="0"/>
              <a:t> — ANOVA and correlation testing for statistical significance</a:t>
            </a:r>
          </a:p>
        </p:txBody>
      </p:sp>
      <p:sp>
        <p:nvSpPr>
          <p:cNvPr id="88" name="TechDot 4"/>
          <p:cNvSpPr/>
          <p:nvPr/>
        </p:nvSpPr>
        <p:spPr>
          <a:xfrm>
            <a:off x="1950000" y="5100000"/>
            <a:ext cx="120000" cy="120000"/>
          </a:xfrm>
          <a:prstGeom prst="ellipse">
            <a:avLst/>
          </a:prstGeom>
          <a:solidFill>
            <a:srgbClr val="42B05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Tech 4"/>
          <p:cNvSpPr txBox="1"/>
          <p:nvPr/>
        </p:nvSpPr>
        <p:spPr>
          <a:xfrm>
            <a:off x="2200000" y="5020000"/>
            <a:ext cx="8500000" cy="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1700" b="1" dirty="0">
                <a:solidFill>
                  <a:srgbClr val="42B051"/>
                </a:solidFill>
              </a:rPr>
              <a:t>Jupyter Notebook</a:t>
            </a:r>
            <a:r>
              <a:rPr lang="en-IN" sz="1500" dirty="0"/>
              <a:t> — End-to-end documentation of the analysis workflow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Heading"/>
          <p:cNvSpPr txBox="1"/>
          <p:nvPr/>
        </p:nvSpPr>
        <p:spPr>
          <a:xfrm>
            <a:off x="675957" y="1450000"/>
            <a:ext cx="10840086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Yield Performance by Season</a:t>
            </a:r>
          </a:p>
        </p:txBody>
      </p:sp>
      <p:pic>
        <p:nvPicPr>
          <p:cNvPr id="206" name="Chart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1950000"/>
            <a:ext cx="8700000" cy="3055407"/>
          </a:xfrm>
          <a:prstGeom prst="rect">
            <a:avLst/>
          </a:prstGeom>
        </p:spPr>
      </p:pic>
      <p:sp>
        <p:nvSpPr>
          <p:cNvPr id="306" name="Caption 6"/>
          <p:cNvSpPr txBox="1"/>
          <p:nvPr/>
        </p:nvSpPr>
        <p:spPr>
          <a:xfrm>
            <a:off x="600000" y="5135407"/>
            <a:ext cx="8700000" cy="1564593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IN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Kharif records the highest average yield (5.64 t/ha), aided by monsoon rainfall; Zaid is lowest (4.67 t/ha). A one-way ANOVA confirms this difference is statistically significant (p &lt; 0.05).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Heading"/>
          <p:cNvSpPr txBox="1"/>
          <p:nvPr/>
        </p:nvSpPr>
        <p:spPr>
          <a:xfrm>
            <a:off x="675957" y="1450000"/>
            <a:ext cx="10840086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Economic Performance by Season</a:t>
            </a:r>
          </a:p>
        </p:txBody>
      </p:sp>
      <p:pic>
        <p:nvPicPr>
          <p:cNvPr id="207" name="Chart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" y="1950000"/>
            <a:ext cx="8700000" cy="3055407"/>
          </a:xfrm>
          <a:prstGeom prst="rect">
            <a:avLst/>
          </a:prstGeom>
        </p:spPr>
      </p:pic>
      <p:sp>
        <p:nvSpPr>
          <p:cNvPr id="307" name="Caption 7"/>
          <p:cNvSpPr txBox="1"/>
          <p:nvPr/>
        </p:nvSpPr>
        <p:spPr>
          <a:xfrm>
            <a:off x="600000" y="5135407"/>
            <a:ext cx="8700000" cy="1564593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IN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Kharif is the most profitable season on average (₹1,78,915; 57.8% of farms profitable). Zaid runs a net loss on average (-₹24,805) with only 35.5% of farms profitable.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Heading"/>
          <p:cNvSpPr txBox="1"/>
          <p:nvPr/>
        </p:nvSpPr>
        <p:spPr>
          <a:xfrm>
            <a:off x="675957" y="1450000"/>
            <a:ext cx="10840086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Environmental Conditions by Season</a:t>
            </a:r>
          </a:p>
        </p:txBody>
      </p:sp>
      <p:pic>
        <p:nvPicPr>
          <p:cNvPr id="208" name="Chart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000" y="1950000"/>
            <a:ext cx="7164000" cy="4000000"/>
          </a:xfrm>
          <a:prstGeom prst="rect">
            <a:avLst/>
          </a:prstGeom>
        </p:spPr>
      </p:pic>
      <p:sp>
        <p:nvSpPr>
          <p:cNvPr id="308" name="Caption 8"/>
          <p:cNvSpPr txBox="1"/>
          <p:nvPr/>
        </p:nvSpPr>
        <p:spPr>
          <a:xfrm>
            <a:off x="600000" y="6080000"/>
            <a:ext cx="87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IN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Kharif brings high rainfall and humidity from the monsoon; Zaid is hottest with the least rainfall and soil moisture — the primary driver of the seasonal yield and profit gap.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Heading"/>
          <p:cNvSpPr txBox="1"/>
          <p:nvPr/>
        </p:nvSpPr>
        <p:spPr>
          <a:xfrm>
            <a:off x="675957" y="1450000"/>
            <a:ext cx="10840086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Relationships Between Key Variables</a:t>
            </a:r>
          </a:p>
        </p:txBody>
      </p:sp>
      <p:pic>
        <p:nvPicPr>
          <p:cNvPr id="209" name="Chart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000" y="1950000"/>
            <a:ext cx="4900000" cy="4000000"/>
          </a:xfrm>
          <a:prstGeom prst="rect">
            <a:avLst/>
          </a:prstGeom>
        </p:spPr>
      </p:pic>
      <p:sp>
        <p:nvSpPr>
          <p:cNvPr id="309" name="Caption 9"/>
          <p:cNvSpPr txBox="1"/>
          <p:nvPr/>
        </p:nvSpPr>
        <p:spPr>
          <a:xfrm>
            <a:off x="600000" y="6080000"/>
            <a:ext cx="87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IN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Yield correlates most strongly with water usage (r = 0.39); disease/pest risk rises sharply with rainfall and humidity (r ≈ 0.6), linking wetter seasons to higher crop risk.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Heading"/>
          <p:cNvSpPr txBox="1"/>
          <p:nvPr/>
        </p:nvSpPr>
        <p:spPr>
          <a:xfrm>
            <a:off x="675957" y="1450000"/>
            <a:ext cx="10840086" cy="4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Crop Performance Across Seasons</a:t>
            </a:r>
          </a:p>
        </p:txBody>
      </p:sp>
      <p:pic>
        <p:nvPicPr>
          <p:cNvPr id="210" name="Chart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000" y="1950000"/>
            <a:ext cx="5636000" cy="4000000"/>
          </a:xfrm>
          <a:prstGeom prst="rect">
            <a:avLst/>
          </a:prstGeom>
        </p:spPr>
      </p:pic>
      <p:sp>
        <p:nvSpPr>
          <p:cNvPr id="310" name="Caption 10"/>
          <p:cNvSpPr txBox="1"/>
          <p:nvPr/>
        </p:nvSpPr>
        <p:spPr>
          <a:xfrm>
            <a:off x="600000" y="6080000"/>
            <a:ext cx="8700000" cy="6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en-IN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Sugarcane shows the largest seasonal swing in yield, while most states also perform best in Kharif — confirming the seasonal effect holds consistently across crops and regions.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400" name="FutureDot 0"/>
          <p:cNvSpPr/>
          <p:nvPr/>
        </p:nvSpPr>
        <p:spPr>
          <a:xfrm>
            <a:off x="754602" y="1600000"/>
            <a:ext cx="130000" cy="130000"/>
          </a:xfrm>
          <a:prstGeom prst="ellipse">
            <a:avLst/>
          </a:prstGeom>
          <a:solidFill>
            <a:srgbClr val="5FCB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1" name="Future 0"/>
          <p:cNvSpPr txBox="1"/>
          <p:nvPr/>
        </p:nvSpPr>
        <p:spPr>
          <a:xfrm>
            <a:off x="1034602" y="1480000"/>
            <a:ext cx="5600000" cy="8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1600" dirty="0"/>
              <a:t>Incorporate multi-year data to separate genuine seasonal effects from single-year weather anomalies.</a:t>
            </a:r>
          </a:p>
        </p:txBody>
      </p:sp>
      <p:sp>
        <p:nvSpPr>
          <p:cNvPr id="402" name="FutureDot 1"/>
          <p:cNvSpPr/>
          <p:nvPr/>
        </p:nvSpPr>
        <p:spPr>
          <a:xfrm>
            <a:off x="754602" y="2500000"/>
            <a:ext cx="130000" cy="130000"/>
          </a:xfrm>
          <a:prstGeom prst="ellipse">
            <a:avLst/>
          </a:prstGeom>
          <a:solidFill>
            <a:srgbClr val="2E83C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3" name="Future 1"/>
          <p:cNvSpPr txBox="1"/>
          <p:nvPr/>
        </p:nvSpPr>
        <p:spPr>
          <a:xfrm>
            <a:off x="1034602" y="2380000"/>
            <a:ext cx="5600000" cy="8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1600" dirty="0"/>
              <a:t>Build predictive models (machine learning) to forecast yield and profit by season ahead of planting.</a:t>
            </a:r>
          </a:p>
        </p:txBody>
      </p:sp>
      <p:sp>
        <p:nvSpPr>
          <p:cNvPr id="404" name="FutureDot 2"/>
          <p:cNvSpPr/>
          <p:nvPr/>
        </p:nvSpPr>
        <p:spPr>
          <a:xfrm>
            <a:off x="754602" y="3400000"/>
            <a:ext cx="130000" cy="130000"/>
          </a:xfrm>
          <a:prstGeom prst="ellipse">
            <a:avLst/>
          </a:prstGeom>
          <a:solidFill>
            <a:srgbClr val="42D0A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5" name="Future 2"/>
          <p:cNvSpPr txBox="1"/>
          <p:nvPr/>
        </p:nvSpPr>
        <p:spPr>
          <a:xfrm>
            <a:off x="1034602" y="3280000"/>
            <a:ext cx="5600000" cy="8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1600" dirty="0"/>
              <a:t>Develop an interactive dashboard for real-time, season-wise monitoring of farm performance.</a:t>
            </a:r>
          </a:p>
        </p:txBody>
      </p:sp>
      <p:sp>
        <p:nvSpPr>
          <p:cNvPr id="406" name="FutureDot 3"/>
          <p:cNvSpPr/>
          <p:nvPr/>
        </p:nvSpPr>
        <p:spPr>
          <a:xfrm>
            <a:off x="754602" y="4300000"/>
            <a:ext cx="130000" cy="130000"/>
          </a:xfrm>
          <a:prstGeom prst="ellipse">
            <a:avLst/>
          </a:prstGeom>
          <a:solidFill>
            <a:srgbClr val="2E94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7" name="Future 3"/>
          <p:cNvSpPr txBox="1"/>
          <p:nvPr/>
        </p:nvSpPr>
        <p:spPr>
          <a:xfrm>
            <a:off x="1034602" y="4180000"/>
            <a:ext cx="5600000" cy="8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1600" dirty="0"/>
              <a:t>Extend the analysis to district-level micro-climate and soil-type factors for finer-grained insight.</a:t>
            </a:r>
          </a:p>
        </p:txBody>
      </p:sp>
      <p:sp>
        <p:nvSpPr>
          <p:cNvPr id="408" name="FutureDot 4"/>
          <p:cNvSpPr/>
          <p:nvPr/>
        </p:nvSpPr>
        <p:spPr>
          <a:xfrm>
            <a:off x="754602" y="5200000"/>
            <a:ext cx="130000" cy="130000"/>
          </a:xfrm>
          <a:prstGeom prst="ellipse">
            <a:avLst/>
          </a:prstGeom>
          <a:solidFill>
            <a:srgbClr val="42B05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9" name="Future 4"/>
          <p:cNvSpPr txBox="1"/>
          <p:nvPr/>
        </p:nvSpPr>
        <p:spPr>
          <a:xfrm>
            <a:off x="1034602" y="5080000"/>
            <a:ext cx="5600000" cy="82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en-IN" sz="1600" dirty="0"/>
              <a:t>Integrate market price forecasting with seasonal supply patterns to guide sell-timing decisions.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5C3BB0-711A-6DFE-ACCA-54C9344C4855}"/>
              </a:ext>
            </a:extLst>
          </p:cNvPr>
          <p:cNvSpPr txBox="1"/>
          <p:nvPr/>
        </p:nvSpPr>
        <p:spPr>
          <a:xfrm>
            <a:off x="675957" y="3796145"/>
            <a:ext cx="9919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https://github.com/SriLalitha-CSE/Seasonal-Agriculture-Performance-Analysis-.git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A46665-261B-3ECD-698B-94B4FAF7D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762" y="1608410"/>
            <a:ext cx="6704338" cy="472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71892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583</TotalTime>
  <Words>625</Words>
  <Application>Microsoft Office PowerPoint</Application>
  <PresentationFormat>Widescreen</PresentationFormat>
  <Paragraphs>57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SRI LALITHA</cp:lastModifiedBy>
  <cp:revision>98</cp:revision>
  <dcterms:created xsi:type="dcterms:W3CDTF">2021-07-11T13:13:15Z</dcterms:created>
  <dcterms:modified xsi:type="dcterms:W3CDTF">2026-09-04T07:57:49Z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